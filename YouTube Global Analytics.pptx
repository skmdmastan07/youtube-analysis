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Poppins"/>
      <p:regular r:id="rId18"/>
      <p:bold r:id="rId19"/>
      <p:italic r:id="rId20"/>
      <p:boldItalic r:id="rId21"/>
    </p:embeddedFont>
    <p:embeddedFont>
      <p:font typeface="Lato"/>
      <p:regular r:id="rId22"/>
      <p:bold r:id="rId23"/>
      <p:italic r:id="rId24"/>
      <p:boldItalic r:id="rId25"/>
    </p:embeddedFont>
    <p:embeddedFont>
      <p:font typeface="Lato Ligh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7B6F153-08C6-476A-ADD8-91912B2A9622}">
  <a:tblStyle styleId="{37B6F153-08C6-476A-ADD8-91912B2A962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22" Type="http://schemas.openxmlformats.org/officeDocument/2006/relationships/font" Target="fonts/Lato-regular.fntdata"/><Relationship Id="rId21" Type="http://schemas.openxmlformats.org/officeDocument/2006/relationships/font" Target="fonts/Poppins-boldItalic.fntdata"/><Relationship Id="rId24" Type="http://schemas.openxmlformats.org/officeDocument/2006/relationships/font" Target="fonts/Lato-italic.fntdata"/><Relationship Id="rId23" Type="http://schemas.openxmlformats.org/officeDocument/2006/relationships/font" Target="fonts/La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Light-regular.fntdata"/><Relationship Id="rId25" Type="http://schemas.openxmlformats.org/officeDocument/2006/relationships/font" Target="fonts/Lato-boldItalic.fntdata"/><Relationship Id="rId28" Type="http://schemas.openxmlformats.org/officeDocument/2006/relationships/font" Target="fonts/LatoLight-italic.fntdata"/><Relationship Id="rId27" Type="http://schemas.openxmlformats.org/officeDocument/2006/relationships/font" Target="fonts/LatoLigh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Ligh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Poppins-bold.fntdata"/><Relationship Id="rId18" Type="http://schemas.openxmlformats.org/officeDocument/2006/relationships/font" Target="fonts/Poppi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28.png"/><Relationship Id="rId7" Type="http://schemas.openxmlformats.org/officeDocument/2006/relationships/image" Target="../media/image2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image" Target="../media/image5.png"/><Relationship Id="rId7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10" Type="http://schemas.openxmlformats.org/officeDocument/2006/relationships/image" Target="../media/image33.png"/><Relationship Id="rId9" Type="http://schemas.openxmlformats.org/officeDocument/2006/relationships/image" Target="../media/image26.png"/><Relationship Id="rId5" Type="http://schemas.openxmlformats.org/officeDocument/2006/relationships/image" Target="../media/image29.png"/><Relationship Id="rId6" Type="http://schemas.openxmlformats.org/officeDocument/2006/relationships/image" Target="../media/image14.png"/><Relationship Id="rId7" Type="http://schemas.openxmlformats.org/officeDocument/2006/relationships/image" Target="../media/image2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21.png"/><Relationship Id="rId5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32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Relationship Id="rId7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Relationship Id="rId5" Type="http://schemas.openxmlformats.org/officeDocument/2006/relationships/image" Target="../media/image27.png"/><Relationship Id="rId6" Type="http://schemas.openxmlformats.org/officeDocument/2006/relationships/image" Target="../media/image23.png"/><Relationship Id="rId7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4.png"/><Relationship Id="rId4" Type="http://schemas.openxmlformats.org/officeDocument/2006/relationships/image" Target="../media/image36.png"/><Relationship Id="rId5" Type="http://schemas.openxmlformats.org/officeDocument/2006/relationships/image" Target="../media/image57.png"/><Relationship Id="rId6" Type="http://schemas.openxmlformats.org/officeDocument/2006/relationships/image" Target="../media/image38.png"/><Relationship Id="rId7" Type="http://schemas.openxmlformats.org/officeDocument/2006/relationships/image" Target="../media/image4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1.png"/><Relationship Id="rId4" Type="http://schemas.openxmlformats.org/officeDocument/2006/relationships/image" Target="../media/image50.png"/><Relationship Id="rId10" Type="http://schemas.openxmlformats.org/officeDocument/2006/relationships/image" Target="../media/image46.png"/><Relationship Id="rId9" Type="http://schemas.openxmlformats.org/officeDocument/2006/relationships/image" Target="../media/image59.png"/><Relationship Id="rId5" Type="http://schemas.openxmlformats.org/officeDocument/2006/relationships/image" Target="../media/image43.png"/><Relationship Id="rId6" Type="http://schemas.openxmlformats.org/officeDocument/2006/relationships/image" Target="../media/image51.png"/><Relationship Id="rId7" Type="http://schemas.openxmlformats.org/officeDocument/2006/relationships/image" Target="../media/image45.png"/><Relationship Id="rId8" Type="http://schemas.openxmlformats.org/officeDocument/2006/relationships/image" Target="../media/image4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5.png"/><Relationship Id="rId4" Type="http://schemas.openxmlformats.org/officeDocument/2006/relationships/image" Target="../media/image48.png"/><Relationship Id="rId11" Type="http://schemas.openxmlformats.org/officeDocument/2006/relationships/image" Target="../media/image58.png"/><Relationship Id="rId10" Type="http://schemas.openxmlformats.org/officeDocument/2006/relationships/image" Target="../media/image60.png"/><Relationship Id="rId9" Type="http://schemas.openxmlformats.org/officeDocument/2006/relationships/image" Target="../media/image67.png"/><Relationship Id="rId5" Type="http://schemas.openxmlformats.org/officeDocument/2006/relationships/image" Target="../media/image47.png"/><Relationship Id="rId6" Type="http://schemas.openxmlformats.org/officeDocument/2006/relationships/image" Target="../media/image55.png"/><Relationship Id="rId7" Type="http://schemas.openxmlformats.org/officeDocument/2006/relationships/image" Target="../media/image54.png"/><Relationship Id="rId8" Type="http://schemas.openxmlformats.org/officeDocument/2006/relationships/image" Target="../media/image6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3.png"/><Relationship Id="rId4" Type="http://schemas.openxmlformats.org/officeDocument/2006/relationships/image" Target="../media/image64.png"/><Relationship Id="rId11" Type="http://schemas.openxmlformats.org/officeDocument/2006/relationships/image" Target="../media/image52.png"/><Relationship Id="rId10" Type="http://schemas.openxmlformats.org/officeDocument/2006/relationships/image" Target="../media/image65.png"/><Relationship Id="rId9" Type="http://schemas.openxmlformats.org/officeDocument/2006/relationships/image" Target="../media/image66.png"/><Relationship Id="rId5" Type="http://schemas.openxmlformats.org/officeDocument/2006/relationships/image" Target="../media/image63.png"/><Relationship Id="rId6" Type="http://schemas.openxmlformats.org/officeDocument/2006/relationships/image" Target="../media/image56.png"/><Relationship Id="rId7" Type="http://schemas.openxmlformats.org/officeDocument/2006/relationships/image" Target="../media/image62.png"/><Relationship Id="rId8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82000" y="-1905000"/>
            <a:ext cx="5715000" cy="571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-205625" y="6725592"/>
            <a:ext cx="121920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3"/>
          <p:cNvSpPr txBox="1"/>
          <p:nvPr/>
        </p:nvSpPr>
        <p:spPr>
          <a:xfrm>
            <a:off x="0" y="3437632"/>
            <a:ext cx="121920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YouTube </a:t>
            </a:r>
            <a:r>
              <a:rPr b="1" i="0" lang="en-US" sz="675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Global</a:t>
            </a:r>
            <a:r>
              <a:rPr b="1" i="0" lang="en-US" sz="67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Analytics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0" y="4828282"/>
            <a:ext cx="12192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CD34D"/>
                </a:solidFill>
                <a:latin typeface="Lato Light"/>
                <a:ea typeface="Lato Light"/>
                <a:cs typeface="Lato Light"/>
                <a:sym typeface="Lato Light"/>
              </a:rPr>
              <a:t>Performance Insights from 995 Channels Worldwide</a:t>
            </a:r>
            <a:endParaRPr/>
          </a:p>
        </p:txBody>
      </p:sp>
      <p:pic>
        <p:nvPicPr>
          <p:cNvPr descr="make this slide more intersting to view add some youtube realetd visual stunning icons to it and beauify this slide without damaging or chaining the text" id="90" name="Google Shape;90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0" y="32054"/>
            <a:ext cx="12131900" cy="67531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381125"/>
            <a:ext cx="5381625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1381125"/>
            <a:ext cx="5381625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286250"/>
            <a:ext cx="5381625" cy="2619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4286250"/>
            <a:ext cx="5381625" cy="26193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EXECUTIVE SUMMARY - KEY METRICS AT A GLANCE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952500" y="2447925"/>
            <a:ext cx="4619625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995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52500" y="3228975"/>
            <a:ext cx="4619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YouTube Channels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52500" y="3457575"/>
            <a:ext cx="4619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GLOBAL DATASET COVERAGE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6619875" y="2447925"/>
            <a:ext cx="4619625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9.1M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619875" y="3228975"/>
            <a:ext cx="4619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Total Uploads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619875" y="3457575"/>
            <a:ext cx="4619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ACROSS ALL ANALYZED CHANNELS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952500" y="5353050"/>
            <a:ext cx="4619625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458x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952500" y="6134100"/>
            <a:ext cx="4619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Avg Views per Sub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952500" y="6362700"/>
            <a:ext cx="4619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ENGAGEMENT EFFICIENCY METRIC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619875" y="5353050"/>
            <a:ext cx="4619625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175.6M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619875" y="6134100"/>
            <a:ext cx="4619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Avg 30-Day Views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6619875" y="6362700"/>
            <a:ext cx="46196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9CA3AF"/>
                </a:solidFill>
                <a:latin typeface="Lato"/>
                <a:ea typeface="Lato"/>
                <a:cs typeface="Lato"/>
                <a:sym typeface="Lato"/>
              </a:rPr>
              <a:t>RECENT PERFORMANCE SNAPSHOT</a:t>
            </a:r>
            <a:endParaRPr/>
          </a:p>
        </p:txBody>
      </p:sp>
      <p:pic>
        <p:nvPicPr>
          <p:cNvPr descr="image.png" id="113" name="Google Shape;11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5625" y="183832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91562" y="183832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48000" y="474345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39187" y="4743450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593502"/>
            <a:ext cx="11049000" cy="13029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86992"/>
            <a:ext cx="11049000" cy="13029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580483"/>
            <a:ext cx="11049000" cy="13029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29750" y="2197298"/>
            <a:ext cx="1905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29750" y="3690788"/>
            <a:ext cx="1905000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29750" y="5184278"/>
            <a:ext cx="1905000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THE RECORD BREAKERS - PEAK PERFORMERS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9" name="Google Shape;12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14400" y="2006798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5"/>
          <p:cNvSpPr txBox="1"/>
          <p:nvPr/>
        </p:nvSpPr>
        <p:spPr>
          <a:xfrm>
            <a:off x="1676400" y="1879252"/>
            <a:ext cx="78409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301,308 Uploads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676400" y="2336452"/>
            <a:ext cx="74676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CD34D"/>
                </a:solidFill>
                <a:latin typeface="Lato"/>
                <a:ea typeface="Lato"/>
                <a:cs typeface="Lato"/>
                <a:sym typeface="Lato"/>
              </a:rPr>
              <a:t>ABP NEWS — Highest Upload Frequency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9429750" y="2197298"/>
            <a:ext cx="1905000" cy="9525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3" name="Google Shape;13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4400" y="3500288"/>
            <a:ext cx="5334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5"/>
          <p:cNvSpPr txBox="1"/>
          <p:nvPr/>
        </p:nvSpPr>
        <p:spPr>
          <a:xfrm>
            <a:off x="1733550" y="3372742"/>
            <a:ext cx="77809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Rank #1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1733550" y="3829942"/>
            <a:ext cx="7410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CD34D"/>
                </a:solidFill>
                <a:latin typeface="Lato"/>
                <a:ea typeface="Lato"/>
                <a:cs typeface="Lato"/>
                <a:sym typeface="Lato"/>
              </a:rPr>
              <a:t>Minimum View Rank — Peak Performance Status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9429750" y="3690788"/>
            <a:ext cx="1619250" cy="9525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7" name="Google Shape;137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14400" y="4993778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5"/>
          <p:cNvSpPr txBox="1"/>
          <p:nvPr/>
        </p:nvSpPr>
        <p:spPr>
          <a:xfrm>
            <a:off x="1676400" y="4866233"/>
            <a:ext cx="78409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175.6M Views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1676400" y="5323433"/>
            <a:ext cx="74676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CD34D"/>
                </a:solidFill>
                <a:latin typeface="Lato"/>
                <a:ea typeface="Lato"/>
                <a:cs typeface="Lato"/>
                <a:sym typeface="Lato"/>
              </a:rPr>
              <a:t>Last 30 Days — Recent Growth Momentum</a:t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9429750" y="5184278"/>
            <a:ext cx="1809750" cy="9525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762625"/>
            <a:ext cx="11049000" cy="6247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381125"/>
            <a:ext cx="12192000" cy="55777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1875" y="571500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6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THE ELITE CLUB - 200K+ UPLOAD CHANNELS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809625" y="5953125"/>
            <a:ext cx="106203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INSIGHT: News channels dominate high-volume uploads - strategic content volume is critical for algorithmic presence in news cycles.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10500" y="2257573"/>
            <a:ext cx="3810000" cy="3152477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CHANNEL TYPE ANALYSIS - PERFORMANCE RADAR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9" name="Google Shape;159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809750" y="1452562"/>
            <a:ext cx="4286250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8191500" y="2638573"/>
            <a:ext cx="32004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CD34D"/>
                </a:solidFill>
                <a:latin typeface="Poppins"/>
                <a:ea typeface="Poppins"/>
                <a:cs typeface="Poppins"/>
                <a:sym typeface="Poppins"/>
              </a:rPr>
              <a:t>Average Performance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8191500" y="3105298"/>
            <a:ext cx="3048000" cy="12189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The radar chart illustrates the multi-dimensional performance metrics across channel types. Music and Entertainment sectors exhibit the most balanced high-tier performance across rank and reach.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191500" y="4609951"/>
            <a:ext cx="3048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Primary Performance Sector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191500" y="4867126"/>
            <a:ext cx="3048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Benchmark Threshold</a:t>
            </a:r>
            <a:endParaRPr/>
          </a:p>
        </p:txBody>
      </p:sp>
      <p:pic>
        <p:nvPicPr>
          <p:cNvPr descr="image.png" id="164" name="Google Shape;16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4624238"/>
            <a:ext cx="133350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91500" y="4881413"/>
            <a:ext cx="133350" cy="14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SUBSCRIBER DOMINANCE BY CATEGORY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571500" y="1381125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Market Share of Global YouTube Audience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571500" y="3663106"/>
            <a:ext cx="1104900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Note: Music and Entertainment command nearly 50% of the top-tier market share combined.</a:t>
            </a:r>
            <a:endParaRPr/>
          </a:p>
        </p:txBody>
      </p:sp>
      <p:pic>
        <p:nvPicPr>
          <p:cNvPr descr="image.png" id="174" name="Google Shape;1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508896"/>
            <a:ext cx="125817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/>
        </p:nvSpPr>
        <p:spPr>
          <a:xfrm>
            <a:off x="752475" y="1941165"/>
            <a:ext cx="551068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Music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752475" y="2150715"/>
            <a:ext cx="52482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5.2B Subs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6372225" y="1941165"/>
            <a:ext cx="551068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Entertainment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6372225" y="2150715"/>
            <a:ext cx="52482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B923C"/>
                </a:solidFill>
                <a:latin typeface="Lato"/>
                <a:ea typeface="Lato"/>
                <a:cs typeface="Lato"/>
                <a:sym typeface="Lato"/>
              </a:rPr>
              <a:t>5.2B Subs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752475" y="2706885"/>
            <a:ext cx="551068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People &amp; Blogs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752475" y="2916435"/>
            <a:ext cx="52482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A855F7"/>
                </a:solidFill>
                <a:latin typeface="Lato"/>
                <a:ea typeface="Lato"/>
                <a:cs typeface="Lato"/>
                <a:sym typeface="Lato"/>
              </a:rPr>
              <a:t>2.8B Subs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6372225" y="2706885"/>
            <a:ext cx="5510688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Gaming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6372225" y="2916435"/>
            <a:ext cx="524827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Lato"/>
                <a:ea typeface="Lato"/>
                <a:cs typeface="Lato"/>
                <a:sym typeface="Lato"/>
              </a:rPr>
              <a:t>2.0B Subs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381125"/>
            <a:ext cx="11049000" cy="14513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63588" y="3826817"/>
            <a:ext cx="238125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46864" y="3731567"/>
            <a:ext cx="238125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ENGAGEMENT EFFICIENCY: VIEWS PER SUB</a:t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 txBox="1"/>
          <p:nvPr/>
        </p:nvSpPr>
        <p:spPr>
          <a:xfrm>
            <a:off x="962025" y="1771650"/>
            <a:ext cx="10267950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"Views Per Subscriber (VPS) measures engagement depth - how many times viewers watch relative to the subscriber base. </a:t>
            </a:r>
            <a:r>
              <a:rPr b="1" i="0" lang="en-US" sz="165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High VPS = High Intent Audience.</a:t>
            </a:r>
            <a:r>
              <a:rPr b="0" i="0" lang="en-US" sz="1650" u="none" cap="none" strike="noStrike">
                <a:solidFill>
                  <a:srgbClr val="1F2937"/>
                </a:solidFill>
                <a:latin typeface="Lato"/>
                <a:ea typeface="Lato"/>
                <a:cs typeface="Lato"/>
                <a:sym typeface="Lato"/>
              </a:rPr>
              <a:t>"</a:t>
            </a:r>
            <a:endParaRPr/>
          </a:p>
        </p:txBody>
      </p:sp>
      <p:pic>
        <p:nvPicPr>
          <p:cNvPr descr="image.png" id="194" name="Google Shape;194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29163" y="3737371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9"/>
          <p:cNvSpPr txBox="1"/>
          <p:nvPr/>
        </p:nvSpPr>
        <p:spPr>
          <a:xfrm>
            <a:off x="6477000" y="5118496"/>
            <a:ext cx="5143500" cy="129346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CD34D"/>
                </a:solidFill>
                <a:latin typeface="Lato"/>
                <a:ea typeface="Lato"/>
                <a:cs typeface="Lato"/>
                <a:sym typeface="Lato"/>
              </a:rPr>
              <a:t>3x Benchmark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1563588" y="3457277"/>
            <a:ext cx="2381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AVERAGE PERFORMER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8246864" y="3362027"/>
            <a:ext cx="23812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CD34D"/>
                </a:solidFill>
                <a:latin typeface="Lato"/>
                <a:ea typeface="Lato"/>
                <a:cs typeface="Lato"/>
                <a:sym typeface="Lato"/>
              </a:rPr>
              <a:t>TOP PERFORMER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571500" y="5118496"/>
            <a:ext cx="5334000" cy="2838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TOP ENGAGEMENT CHANNELS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571500" y="5488037"/>
            <a:ext cx="533400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 txBox="1"/>
          <p:nvPr/>
        </p:nvSpPr>
        <p:spPr>
          <a:xfrm>
            <a:off x="571500" y="5640437"/>
            <a:ext cx="5334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01.</a:t>
            </a:r>
            <a:r>
              <a:rPr b="0" i="0" lang="en-U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Ryan's World - 1,571x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571500" y="5897612"/>
            <a:ext cx="5334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02.</a:t>
            </a:r>
            <a:r>
              <a:rPr b="0" i="0" lang="en-U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Vijay Television - 1,441x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571500" y="6154787"/>
            <a:ext cx="5334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03.</a:t>
            </a:r>
            <a:r>
              <a:rPr b="0" i="0" lang="en-US" sz="12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jbalvinVEVO - 1,320x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PERFORMANCE METRICS BY CHANNEL TYPE</a:t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9" name="Google Shape;209;p20"/>
          <p:cNvGraphicFramePr/>
          <p:nvPr/>
        </p:nvGraphicFramePr>
        <p:xfrm>
          <a:off x="571500" y="22050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{37B6F153-08C6-476A-ADD8-91912B2A9622}</a:tableStyleId>
              </a:tblPr>
              <a:tblGrid>
                <a:gridCol w="2786950"/>
                <a:gridCol w="2589025"/>
                <a:gridCol w="2654950"/>
                <a:gridCol w="3018075"/>
              </a:tblGrid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Channel Type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Total Channels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Avg Views/Sub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Engagement Rank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Music</a:t>
                      </a:r>
                      <a:endParaRPr/>
                    </a:p>
                  </a:txBody>
                  <a:tcPr marT="25400" marB="25400" marR="63500" marL="352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182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682x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B4530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Elite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3C7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Entertainment</a:t>
                      </a:r>
                      <a:endParaRPr/>
                    </a:p>
                  </a:txBody>
                  <a:tcPr marT="25400" marB="25400" marR="63500" marL="352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241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590x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B4530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3C7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News</a:t>
                      </a:r>
                      <a:endParaRPr/>
                    </a:p>
                  </a:txBody>
                  <a:tcPr marT="25400" marB="25400" marR="63500" marL="352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132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421x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Gaming</a:t>
                      </a:r>
                      <a:endParaRPr/>
                    </a:p>
                  </a:txBody>
                  <a:tcPr marT="25400" marB="25400" marR="63500" marL="352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310x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AFB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Education</a:t>
                      </a:r>
                      <a:endParaRPr/>
                    </a:p>
                  </a:txBody>
                  <a:tcPr marT="25400" marB="25400" marR="63500" marL="352425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56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215x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00000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Niche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0" name="Google Shape;210;p20"/>
          <p:cNvSpPr/>
          <p:nvPr/>
        </p:nvSpPr>
        <p:spPr>
          <a:xfrm>
            <a:off x="571500" y="3314700"/>
            <a:ext cx="278695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3358455" y="3314700"/>
            <a:ext cx="2589014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5947469" y="3314700"/>
            <a:ext cx="2654944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8602414" y="3314700"/>
            <a:ext cx="301808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571500" y="3848100"/>
            <a:ext cx="278695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3358455" y="3848100"/>
            <a:ext cx="2589014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5947469" y="3848100"/>
            <a:ext cx="2654944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0"/>
          <p:cNvSpPr/>
          <p:nvPr/>
        </p:nvSpPr>
        <p:spPr>
          <a:xfrm>
            <a:off x="8602414" y="3848100"/>
            <a:ext cx="301808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571500" y="4381500"/>
            <a:ext cx="278695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0"/>
          <p:cNvSpPr/>
          <p:nvPr/>
        </p:nvSpPr>
        <p:spPr>
          <a:xfrm>
            <a:off x="3358455" y="4381500"/>
            <a:ext cx="2589014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0"/>
          <p:cNvSpPr/>
          <p:nvPr/>
        </p:nvSpPr>
        <p:spPr>
          <a:xfrm>
            <a:off x="5947469" y="4381500"/>
            <a:ext cx="2654944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0"/>
          <p:cNvSpPr/>
          <p:nvPr/>
        </p:nvSpPr>
        <p:spPr>
          <a:xfrm>
            <a:off x="8602414" y="4381500"/>
            <a:ext cx="301808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0"/>
          <p:cNvSpPr/>
          <p:nvPr/>
        </p:nvSpPr>
        <p:spPr>
          <a:xfrm>
            <a:off x="571500" y="4914900"/>
            <a:ext cx="278695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3358455" y="4914900"/>
            <a:ext cx="2589014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5947469" y="4914900"/>
            <a:ext cx="2654944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8602414" y="4914900"/>
            <a:ext cx="301808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571500" y="5448300"/>
            <a:ext cx="278695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3358455" y="5448300"/>
            <a:ext cx="2589014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5947469" y="5448300"/>
            <a:ext cx="2654944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8602414" y="5448300"/>
            <a:ext cx="3018085" cy="9525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0" name="Google Shape;23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052887"/>
            <a:ext cx="2381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586287"/>
            <a:ext cx="2381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119687"/>
            <a:ext cx="2381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986087"/>
            <a:ext cx="2381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519487"/>
            <a:ext cx="2381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5" name="Google Shape;235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986087"/>
            <a:ext cx="2381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519487"/>
            <a:ext cx="2381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4052887"/>
            <a:ext cx="2381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586287"/>
            <a:ext cx="23812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119687"/>
            <a:ext cx="238125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F2937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759446"/>
            <a:ext cx="5381625" cy="19314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759446"/>
            <a:ext cx="5381625" cy="19314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76687"/>
            <a:ext cx="5381625" cy="19314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3976687"/>
            <a:ext cx="5381625" cy="1931491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1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INSIGHTS - WHAT THE DATA REVEALS</a:t>
            </a:r>
            <a:endParaRPr/>
          </a:p>
        </p:txBody>
      </p:sp>
      <p:sp>
        <p:nvSpPr>
          <p:cNvPr id="249" name="Google Shape;249;p21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50" name="Google Shape;250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178546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1"/>
          <p:cNvSpPr txBox="1"/>
          <p:nvPr/>
        </p:nvSpPr>
        <p:spPr>
          <a:xfrm>
            <a:off x="952500" y="2607171"/>
            <a:ext cx="485060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Market Concentration</a:t>
            </a:r>
            <a:endParaRPr/>
          </a:p>
        </p:txBody>
      </p:sp>
      <p:sp>
        <p:nvSpPr>
          <p:cNvPr id="252" name="Google Shape;252;p21"/>
          <p:cNvSpPr txBox="1"/>
          <p:nvPr/>
        </p:nvSpPr>
        <p:spPr>
          <a:xfrm>
            <a:off x="952500" y="2883396"/>
            <a:ext cx="46196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Music &amp; Entertainment = 40% of Global Market. Massive subscriber concentration requires specific niche strategy for newcomers.</a:t>
            </a:r>
            <a:endParaRPr/>
          </a:p>
        </p:txBody>
      </p:sp>
      <p:pic>
        <p:nvPicPr>
          <p:cNvPr descr="image.png" id="253" name="Google Shape;253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19875" y="2178546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1"/>
          <p:cNvSpPr txBox="1"/>
          <p:nvPr/>
        </p:nvSpPr>
        <p:spPr>
          <a:xfrm>
            <a:off x="6619875" y="2607171"/>
            <a:ext cx="485060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Upload Velocity</a:t>
            </a:r>
            <a:endParaRPr/>
          </a:p>
        </p:txBody>
      </p:sp>
      <p:sp>
        <p:nvSpPr>
          <p:cNvPr id="255" name="Google Shape;255;p21"/>
          <p:cNvSpPr txBox="1"/>
          <p:nvPr/>
        </p:nvSpPr>
        <p:spPr>
          <a:xfrm>
            <a:off x="6619875" y="2883396"/>
            <a:ext cx="46196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News channels win the algorithmic game with 200K+ uploads. Frequency is the primary driver for "Recent Trend" visibility.</a:t>
            </a:r>
            <a:endParaRPr/>
          </a:p>
        </p:txBody>
      </p:sp>
      <p:pic>
        <p:nvPicPr>
          <p:cNvPr descr="image.png" id="256" name="Google Shape;256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2500" y="4395787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/>
          <p:nvPr/>
        </p:nvSpPr>
        <p:spPr>
          <a:xfrm>
            <a:off x="952500" y="4824412"/>
            <a:ext cx="485060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Engagement Variance</a:t>
            </a:r>
            <a:endParaRPr/>
          </a:p>
        </p:txBody>
      </p:sp>
      <p:sp>
        <p:nvSpPr>
          <p:cNvPr id="258" name="Google Shape;258;p21"/>
          <p:cNvSpPr txBox="1"/>
          <p:nvPr/>
        </p:nvSpPr>
        <p:spPr>
          <a:xfrm>
            <a:off x="952500" y="5100637"/>
            <a:ext cx="46196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A 10x gap exists between top performers and averages. High-intent channels like Ryan's World set the standard for loyalty.</a:t>
            </a:r>
            <a:endParaRPr/>
          </a:p>
        </p:txBody>
      </p:sp>
      <p:pic>
        <p:nvPicPr>
          <p:cNvPr descr="image.png" id="259" name="Google Shape;259;p21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619875" y="4395787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1"/>
          <p:cNvSpPr txBox="1"/>
          <p:nvPr/>
        </p:nvSpPr>
        <p:spPr>
          <a:xfrm>
            <a:off x="6619875" y="4824412"/>
            <a:ext cx="4850606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Growth Opportunity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6619875" y="5100637"/>
            <a:ext cx="46196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Avg 175M views in last 30 days indicates robust ecosystem growth. Platform expansion is accelerating in emerging markets.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6" name="Google Shape;26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2500" y="2157412"/>
            <a:ext cx="3365450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7" name="Google Shape;26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03700" y="2157412"/>
            <a:ext cx="3365450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254900" y="2157412"/>
            <a:ext cx="3365450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49400" y="2547937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000601" y="2547937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51801" y="2547937"/>
            <a:ext cx="5715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2"/>
          <p:cNvSpPr/>
          <p:nvPr/>
        </p:nvSpPr>
        <p:spPr>
          <a:xfrm>
            <a:off x="0" y="0"/>
            <a:ext cx="381000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1190625" y="571500"/>
            <a:ext cx="1095136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STRATEGIC RECOMMENDATIONS</a:t>
            </a:r>
            <a:endParaRPr/>
          </a:p>
        </p:txBody>
      </p:sp>
      <p:sp>
        <p:nvSpPr>
          <p:cNvPr id="274" name="Google Shape;274;p22"/>
          <p:cNvSpPr/>
          <p:nvPr/>
        </p:nvSpPr>
        <p:spPr>
          <a:xfrm>
            <a:off x="952500" y="571500"/>
            <a:ext cx="76200" cy="619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5" name="Google Shape;275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444650" y="33099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2"/>
          <p:cNvSpPr txBox="1"/>
          <p:nvPr/>
        </p:nvSpPr>
        <p:spPr>
          <a:xfrm>
            <a:off x="1278414" y="3881437"/>
            <a:ext cx="271362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Analyze VPS Ratio</a:t>
            </a:r>
            <a:endParaRPr/>
          </a:p>
        </p:txBody>
      </p:sp>
      <p:sp>
        <p:nvSpPr>
          <p:cNvPr id="277" name="Google Shape;277;p22"/>
          <p:cNvSpPr txBox="1"/>
          <p:nvPr/>
        </p:nvSpPr>
        <p:spPr>
          <a:xfrm>
            <a:off x="1343025" y="4205287"/>
            <a:ext cx="2584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Benchmark against leaders. Aim for 500x VPS to ensure your content is resonant with your subscriber base.</a:t>
            </a:r>
            <a:endParaRPr/>
          </a:p>
        </p:txBody>
      </p:sp>
      <p:pic>
        <p:nvPicPr>
          <p:cNvPr descr="image.png" id="278" name="Google Shape;278;p2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119663" y="3309937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2"/>
          <p:cNvSpPr txBox="1"/>
          <p:nvPr/>
        </p:nvSpPr>
        <p:spPr>
          <a:xfrm>
            <a:off x="4929615" y="3881437"/>
            <a:ext cx="271362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Upload Cadence</a:t>
            </a:r>
            <a:endParaRPr/>
          </a:p>
        </p:txBody>
      </p:sp>
      <p:sp>
        <p:nvSpPr>
          <p:cNvPr id="280" name="Google Shape;280;p22"/>
          <p:cNvSpPr txBox="1"/>
          <p:nvPr/>
        </p:nvSpPr>
        <p:spPr>
          <a:xfrm>
            <a:off x="4994225" y="4205287"/>
            <a:ext cx="2584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News leaders post 100+ times daily. While extreme, consistent daily uploads are the floor for modern growth.</a:t>
            </a:r>
            <a:endParaRPr/>
          </a:p>
        </p:txBody>
      </p:sp>
      <p:pic>
        <p:nvPicPr>
          <p:cNvPr descr="image.png" id="281" name="Google Shape;281;p2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794676" y="3309937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2"/>
          <p:cNvSpPr txBox="1"/>
          <p:nvPr/>
        </p:nvSpPr>
        <p:spPr>
          <a:xfrm>
            <a:off x="8580815" y="3881437"/>
            <a:ext cx="271362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Underserved Niches</a:t>
            </a:r>
            <a:endParaRPr/>
          </a:p>
        </p:txBody>
      </p:sp>
      <p:sp>
        <p:nvSpPr>
          <p:cNvPr id="283" name="Google Shape;283;p22"/>
          <p:cNvSpPr txBox="1"/>
          <p:nvPr/>
        </p:nvSpPr>
        <p:spPr>
          <a:xfrm>
            <a:off x="8645425" y="4205287"/>
            <a:ext cx="2584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Move beyond Entertainment. Education and Tech show high intent but lower saturation, offering premium CPM potential.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4F6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8" name="Google Shape;28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5362" y="1846957"/>
            <a:ext cx="2581275" cy="466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9" name="Google Shape;28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95625" y="3456682"/>
            <a:ext cx="9906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0" name="Google Shape;290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76725" y="3456682"/>
            <a:ext cx="127635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1" name="Google Shape;291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43575" y="3456682"/>
            <a:ext cx="9906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24675" y="3456682"/>
            <a:ext cx="9906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05775" y="3456682"/>
            <a:ext cx="990600" cy="552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095750" y="5152132"/>
            <a:ext cx="1905000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191250" y="5152132"/>
            <a:ext cx="1905000" cy="390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3"/>
          <p:cNvSpPr txBox="1"/>
          <p:nvPr/>
        </p:nvSpPr>
        <p:spPr>
          <a:xfrm>
            <a:off x="809625" y="571500"/>
            <a:ext cx="11351418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F2937"/>
                </a:solidFill>
                <a:latin typeface="Poppins"/>
                <a:ea typeface="Poppins"/>
                <a:cs typeface="Poppins"/>
                <a:sym typeface="Poppins"/>
              </a:rPr>
              <a:t>PERFORMANCE HIERARCHY BREAKDOWN</a:t>
            </a:r>
            <a:endParaRPr/>
          </a:p>
        </p:txBody>
      </p:sp>
      <p:sp>
        <p:nvSpPr>
          <p:cNvPr id="297" name="Google Shape;297;p23"/>
          <p:cNvSpPr/>
          <p:nvPr/>
        </p:nvSpPr>
        <p:spPr>
          <a:xfrm>
            <a:off x="571500" y="571500"/>
            <a:ext cx="76200" cy="619125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6086475" y="2694682"/>
            <a:ext cx="19050" cy="381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99" name="Google Shape;299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091112" y="2008882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3"/>
          <p:cNvSpPr/>
          <p:nvPr/>
        </p:nvSpPr>
        <p:spPr>
          <a:xfrm>
            <a:off x="4648200" y="4390132"/>
            <a:ext cx="19050" cy="381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3"/>
          <p:cNvSpPr/>
          <p:nvPr/>
        </p:nvSpPr>
        <p:spPr>
          <a:xfrm>
            <a:off x="7524750" y="4390132"/>
            <a:ext cx="19050" cy="381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3"/>
          <p:cNvSpPr txBox="1"/>
          <p:nvPr/>
        </p:nvSpPr>
        <p:spPr>
          <a:xfrm>
            <a:off x="3305175" y="3570982"/>
            <a:ext cx="3619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Music</a:t>
            </a:r>
            <a:endParaRPr/>
          </a:p>
        </p:txBody>
      </p:sp>
      <p:sp>
        <p:nvSpPr>
          <p:cNvPr id="303" name="Google Shape;303;p23"/>
          <p:cNvSpPr txBox="1"/>
          <p:nvPr/>
        </p:nvSpPr>
        <p:spPr>
          <a:xfrm>
            <a:off x="4486275" y="3570982"/>
            <a:ext cx="8572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Entertainment</a:t>
            </a:r>
            <a:endParaRPr/>
          </a:p>
        </p:txBody>
      </p:sp>
      <p:sp>
        <p:nvSpPr>
          <p:cNvPr id="304" name="Google Shape;304;p23"/>
          <p:cNvSpPr txBox="1"/>
          <p:nvPr/>
        </p:nvSpPr>
        <p:spPr>
          <a:xfrm>
            <a:off x="5953125" y="3570982"/>
            <a:ext cx="4095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People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7134225" y="3570982"/>
            <a:ext cx="4572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Gaming</a:t>
            </a:r>
            <a:endParaRPr/>
          </a:p>
        </p:txBody>
      </p:sp>
      <p:sp>
        <p:nvSpPr>
          <p:cNvPr id="306" name="Google Shape;306;p23"/>
          <p:cNvSpPr txBox="1"/>
          <p:nvPr/>
        </p:nvSpPr>
        <p:spPr>
          <a:xfrm>
            <a:off x="8315325" y="3570982"/>
            <a:ext cx="4857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Comedy</a:t>
            </a:r>
            <a:endParaRPr/>
          </a:p>
        </p:txBody>
      </p:sp>
      <p:sp>
        <p:nvSpPr>
          <p:cNvPr id="307" name="Google Shape;307;p23"/>
          <p:cNvSpPr txBox="1"/>
          <p:nvPr/>
        </p:nvSpPr>
        <p:spPr>
          <a:xfrm>
            <a:off x="4095750" y="5637907"/>
            <a:ext cx="1905000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Primary Driver: Reach</a:t>
            </a:r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6191250" y="5637907"/>
            <a:ext cx="1905000" cy="182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8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B5563"/>
                </a:solidFill>
                <a:latin typeface="Lato"/>
                <a:ea typeface="Lato"/>
                <a:cs typeface="Lato"/>
                <a:sym typeface="Lato"/>
              </a:rPr>
              <a:t>Primary Driver: Intent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